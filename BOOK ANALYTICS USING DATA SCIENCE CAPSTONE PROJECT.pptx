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9FEE8-5339-45E5-A919-BE3039286668}" v="4" dt="2026-07-26T11:30:24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Lad" userId="99691dd19cc09b62" providerId="LiveId" clId="{258E50DD-84AB-4BB6-B606-2BEB62E93F09}"/>
    <pc:docChg chg="modSld">
      <pc:chgData name="Pratik Lad" userId="99691dd19cc09b62" providerId="LiveId" clId="{258E50DD-84AB-4BB6-B606-2BEB62E93F09}" dt="2026-07-26T11:30:11.246" v="93" actId="20577"/>
      <pc:docMkLst>
        <pc:docMk/>
      </pc:docMkLst>
      <pc:sldChg chg="modSp mod">
        <pc:chgData name="Pratik Lad" userId="99691dd19cc09b62" providerId="LiveId" clId="{258E50DD-84AB-4BB6-B606-2BEB62E93F09}" dt="2026-07-26T11:30:11.246" v="93" actId="20577"/>
        <pc:sldMkLst>
          <pc:docMk/>
          <pc:sldMk cId="3934563126" sldId="268"/>
        </pc:sldMkLst>
        <pc:spChg chg="mod">
          <ac:chgData name="Pratik Lad" userId="99691dd19cc09b62" providerId="LiveId" clId="{258E50DD-84AB-4BB6-B606-2BEB62E93F09}" dt="2026-07-26T11:30:11.246" v="93" actId="20577"/>
          <ac:spMkLst>
            <pc:docMk/>
            <pc:sldMk cId="3934563126" sldId="268"/>
            <ac:spMk id="3" creationId="{051C17EF-4C19-A21A-C88F-EC66A6C365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0168-6896-838D-46A1-A5C628AE8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06D45-6389-8B91-E34D-2330A555B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2885A-19B3-3C53-B0C1-D9D318B9D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881D7-1FE3-FD54-1E13-F1C216AD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BFAB-BE69-5993-6214-F73D0B30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16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4B42-A675-D49A-6DE1-963C5F0C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0F1C-5DFA-42FE-83A5-EC8976336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1A90A-7210-60A4-A188-B7285BCA7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ADB39-F685-122E-6CB1-93BE6963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82EFB-602C-A6B9-589F-3F90C0DF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39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E165-8EFC-88A8-8606-675EC5B63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86A83-5860-FDDA-81A3-41354799F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4F5E-3B73-CA61-F137-9C4490A3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D4D-0828-2D37-0922-9238E156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DBFC3-ACA4-BC40-3BEF-AC671A9B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59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9C3F-1694-5F26-6365-ABDE79C25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5607-BF87-AB6C-7781-010A18B5D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AAA21-CC44-6E55-8BEE-08A9EA081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AF073-D0B0-6295-FE2B-F8A05E15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08BB9-00D2-5881-F1C8-11BCC4BA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92880-56A5-12E8-DFEB-F9B5E5EA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3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2CC2-8E45-3462-47CF-F9054DB7D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81939-76F2-4340-B040-C98B924F4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FDD48-5208-C475-9656-AC96509B7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1A618-2081-42F2-D1CF-35671BEEF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C5D14-1560-7EE9-76C2-CF7D2E216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01C0C-B23C-F238-A779-83103C35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62B97-3583-FEE7-6904-4D3DE9D0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2C6B1-D2DE-3369-E104-F54E51FE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65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9DB8-75B7-63B7-3ECA-5F263802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64879-A95D-1A2D-1D4B-13C68F99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F7517-6D69-ECF0-1C49-28BE2A78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36BD7-3E00-41D8-26DA-EF531E2C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59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8BE5E-8373-7452-C158-00D60DADC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425AC-E25C-368B-9A7F-D307D9EC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765B5-F268-517A-88CD-C0807B54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32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AFE3-6976-5D74-6805-03BE68AD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12698-0239-95DA-314F-5AF42CC19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F0504-5561-00C1-77E4-B433C5059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9E8DD-B463-F536-8E0B-91DA8474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C5384-2C40-5703-C104-652AC50E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A0C8B-13DA-2D6A-9B70-60A5EE26D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53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5DC3-24E3-F81A-0435-F1CFF834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93959-F310-D84F-6E5B-4E5385414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92439-8D55-6B60-9531-77783A15F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5FE79-9867-E739-D91F-5993D4FE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F0A03-08BC-13DA-DA56-AC547F5A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B708A-F7F4-5695-C3BA-B28E7C4E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40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8524-F4DA-B7BA-B531-1BA9D59C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7CF64-3AD0-3F46-F3A1-811684D2E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7DAD0-4E3D-7EA9-D76C-253EEBBC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7973E-B06C-4C83-A9C1-0778A8B9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41821-229C-F0F6-35A8-2D249E23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52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57E387-3DC5-57E8-BFDC-6624F4FBF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B08A5-D4E0-9CF4-787F-FB948DCA7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B13E3-E694-5671-D277-F3CCA40E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E6E1C-36A8-E8B8-46B1-9F6B26D3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4753F-DC6C-8F2B-3054-234CBFC4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61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0893B-44E9-CF9C-76B1-6A4F62A3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B6AD8-D3BF-9117-5799-D2C47A6D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A7766-DE8A-A1D2-9F75-927E8BC8F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4F3FB-171E-4D1C-9056-8B2F0640B6D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FBE62-FF12-7C03-B478-BDDA6BD31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019E4-6AE3-5117-5FE0-652AB9180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6867-0BA4-496D-9093-229A8076A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62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tec7h-P2rY07690xwnBXSNKjbrRtB5u1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37E6-106E-C108-60A1-230398180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BOOK ANALYTICS USING DATA SCIENCE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End-to-End Data Science Capstone Project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BBC33-73DD-BCE5-284A-4D286B1CF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Prepared </a:t>
            </a:r>
            <a:r>
              <a:rPr lang="en-IN" b="1" dirty="0" err="1">
                <a:solidFill>
                  <a:schemeClr val="bg1"/>
                </a:solidFill>
              </a:rPr>
              <a:t>By:Ritesh</a:t>
            </a:r>
            <a:r>
              <a:rPr lang="en-IN" b="1" dirty="0">
                <a:solidFill>
                  <a:schemeClr val="bg1"/>
                </a:solidFill>
              </a:rPr>
              <a:t> </a:t>
            </a:r>
            <a:r>
              <a:rPr lang="en-IN" b="1" dirty="0" err="1">
                <a:solidFill>
                  <a:schemeClr val="bg1"/>
                </a:solidFill>
              </a:rPr>
              <a:t>Redekar</a:t>
            </a:r>
            <a:endParaRPr lang="en-IN" b="1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Domain:Book</a:t>
            </a:r>
            <a:r>
              <a:rPr lang="en-IN" dirty="0">
                <a:solidFill>
                  <a:schemeClr val="bg1"/>
                </a:solidFill>
              </a:rPr>
              <a:t> Analytics</a:t>
            </a:r>
          </a:p>
          <a:p>
            <a:r>
              <a:rPr lang="en-IN" dirty="0">
                <a:solidFill>
                  <a:schemeClr val="bg1"/>
                </a:solidFill>
              </a:rPr>
              <a:t>Dataset </a:t>
            </a:r>
            <a:r>
              <a:rPr lang="en-IN" dirty="0" err="1">
                <a:solidFill>
                  <a:schemeClr val="bg1"/>
                </a:solidFill>
              </a:rPr>
              <a:t>Source:Open</a:t>
            </a:r>
            <a:r>
              <a:rPr lang="en-IN" dirty="0">
                <a:solidFill>
                  <a:schemeClr val="bg1"/>
                </a:solidFill>
              </a:rPr>
              <a:t> Library API</a:t>
            </a:r>
          </a:p>
          <a:p>
            <a:r>
              <a:rPr lang="en-IN" dirty="0">
                <a:solidFill>
                  <a:schemeClr val="bg1"/>
                </a:solidFill>
              </a:rPr>
              <a:t>Tools Used:</a:t>
            </a:r>
          </a:p>
          <a:p>
            <a:r>
              <a:rPr lang="en-IN" dirty="0" err="1">
                <a:solidFill>
                  <a:schemeClr val="bg1"/>
                </a:solidFill>
              </a:rPr>
              <a:t>Python,Pandas,NumPy,Matplotlib,Scikit-Learn,Power</a:t>
            </a:r>
            <a:r>
              <a:rPr lang="en-IN" dirty="0">
                <a:solidFill>
                  <a:schemeClr val="bg1"/>
                </a:solidFill>
              </a:rPr>
              <a:t> BI</a:t>
            </a:r>
          </a:p>
        </p:txBody>
      </p:sp>
    </p:spTree>
    <p:extLst>
      <p:ext uri="{BB962C8B-B14F-4D97-AF65-F5344CB8AC3E}">
        <p14:creationId xmlns:p14="http://schemas.microsoft.com/office/powerpoint/2010/main" val="254292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CD29-615D-97D5-809A-058CE165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353A-8F27-37C5-9E2A-FFEE5731C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Objective</a:t>
            </a:r>
          </a:p>
          <a:p>
            <a:r>
              <a:rPr lang="en-US" dirty="0">
                <a:solidFill>
                  <a:schemeClr val="bg1"/>
                </a:solidFill>
              </a:rPr>
              <a:t>The objective of this project is to collect real-world book data from the Open Library API and transform it into meaningful business insights using Data Science techniques.</a:t>
            </a:r>
          </a:p>
          <a:p>
            <a:r>
              <a:rPr lang="en-US" b="1" dirty="0">
                <a:solidFill>
                  <a:schemeClr val="bg1"/>
                </a:solidFill>
              </a:rPr>
              <a:t>This project includes:</a:t>
            </a:r>
          </a:p>
          <a:p>
            <a:r>
              <a:rPr lang="en-US" dirty="0">
                <a:solidFill>
                  <a:schemeClr val="bg1"/>
                </a:solidFill>
              </a:rPr>
              <a:t>Web </a:t>
            </a:r>
            <a:r>
              <a:rPr lang="en-US" dirty="0" err="1">
                <a:solidFill>
                  <a:schemeClr val="bg1"/>
                </a:solidFill>
              </a:rPr>
              <a:t>ScrapingData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CleaningFeature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EngineeringExploratory</a:t>
            </a:r>
            <a:r>
              <a:rPr lang="en-US" dirty="0">
                <a:solidFill>
                  <a:schemeClr val="bg1"/>
                </a:solidFill>
              </a:rPr>
              <a:t> Data </a:t>
            </a:r>
            <a:r>
              <a:rPr lang="en-US" dirty="0" err="1">
                <a:solidFill>
                  <a:schemeClr val="bg1"/>
                </a:solidFill>
              </a:rPr>
              <a:t>AnalysisMachine</a:t>
            </a:r>
            <a:r>
              <a:rPr lang="en-US" dirty="0">
                <a:solidFill>
                  <a:schemeClr val="bg1"/>
                </a:solidFill>
              </a:rPr>
              <a:t> Learning </a:t>
            </a:r>
            <a:r>
              <a:rPr lang="en-US" dirty="0" err="1">
                <a:solidFill>
                  <a:schemeClr val="bg1"/>
                </a:solidFill>
              </a:rPr>
              <a:t>ClassificationInteractive</a:t>
            </a:r>
            <a:r>
              <a:rPr lang="en-US" dirty="0">
                <a:solidFill>
                  <a:schemeClr val="bg1"/>
                </a:solidFill>
              </a:rPr>
              <a:t> Power BI Dashboard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95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FDAA-CDAD-40CD-CBF6-5102A6EA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Workflow: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86206-8F69-8618-AB94-975503F55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Project </a:t>
            </a:r>
            <a:r>
              <a:rPr lang="en-IN" sz="1400" b="1" dirty="0" err="1">
                <a:solidFill>
                  <a:schemeClr val="bg1"/>
                </a:solidFill>
              </a:rPr>
              <a:t>WorkflowOpen</a:t>
            </a:r>
            <a:r>
              <a:rPr lang="en-IN" sz="1400" b="1" dirty="0">
                <a:solidFill>
                  <a:schemeClr val="bg1"/>
                </a:solidFill>
              </a:rPr>
              <a:t> Library API  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    ↓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Web Scraping 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    ↓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Raw Dataset    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    ↓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Data Cleaning   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    ↓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Feature Engineering   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   ↓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Exploratory Data Analysis 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    ↓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Machine Learning     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   ↓</a:t>
            </a:r>
          </a:p>
          <a:p>
            <a:pPr marL="0" indent="0" algn="ctr">
              <a:buNone/>
            </a:pPr>
            <a:r>
              <a:rPr lang="en-IN" sz="1400" b="1" dirty="0">
                <a:solidFill>
                  <a:schemeClr val="bg1"/>
                </a:solidFill>
              </a:rPr>
              <a:t>  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672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1919-934F-2A1D-C6F8-55D96D36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Web Scraping: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604EE-CC1B-8878-83F2-0FB50DEE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Collection</a:t>
            </a:r>
          </a:p>
          <a:p>
            <a:r>
              <a:rPr lang="en-US" dirty="0">
                <a:solidFill>
                  <a:schemeClr val="bg1"/>
                </a:solidFill>
              </a:rPr>
              <a:t>Book data was collected using the Open Library REST API.</a:t>
            </a:r>
          </a:p>
          <a:p>
            <a:r>
              <a:rPr lang="en-US" dirty="0">
                <a:solidFill>
                  <a:schemeClr val="bg1"/>
                </a:solidFill>
              </a:rPr>
              <a:t>Python libraries used:</a:t>
            </a:r>
          </a:p>
          <a:p>
            <a:r>
              <a:rPr lang="en-US" dirty="0">
                <a:solidFill>
                  <a:schemeClr val="bg1"/>
                </a:solidFill>
              </a:rPr>
              <a:t>Requests</a:t>
            </a:r>
          </a:p>
          <a:p>
            <a:r>
              <a:rPr lang="en-US" dirty="0">
                <a:solidFill>
                  <a:schemeClr val="bg1"/>
                </a:solidFill>
              </a:rPr>
              <a:t>Pandas</a:t>
            </a:r>
          </a:p>
          <a:p>
            <a:r>
              <a:rPr lang="en-US" b="1" dirty="0">
                <a:solidFill>
                  <a:schemeClr val="bg1"/>
                </a:solidFill>
              </a:rPr>
              <a:t>Collected information:</a:t>
            </a:r>
          </a:p>
          <a:p>
            <a:r>
              <a:rPr lang="en-US" dirty="0">
                <a:solidFill>
                  <a:schemeClr val="bg1"/>
                </a:solidFill>
              </a:rPr>
              <a:t>Title</a:t>
            </a:r>
          </a:p>
          <a:p>
            <a:r>
              <a:rPr lang="en-US" dirty="0">
                <a:solidFill>
                  <a:schemeClr val="bg1"/>
                </a:solidFill>
              </a:rPr>
              <a:t>Author</a:t>
            </a:r>
          </a:p>
          <a:p>
            <a:r>
              <a:rPr lang="en-US" dirty="0">
                <a:solidFill>
                  <a:schemeClr val="bg1"/>
                </a:solidFill>
              </a:rPr>
              <a:t>Subject</a:t>
            </a:r>
          </a:p>
          <a:p>
            <a:r>
              <a:rPr lang="en-US" dirty="0">
                <a:solidFill>
                  <a:schemeClr val="bg1"/>
                </a:solidFill>
              </a:rPr>
              <a:t>Publish Year</a:t>
            </a:r>
          </a:p>
          <a:p>
            <a:r>
              <a:rPr lang="en-US" dirty="0">
                <a:solidFill>
                  <a:schemeClr val="bg1"/>
                </a:solidFill>
              </a:rPr>
              <a:t>Edition Count</a:t>
            </a:r>
          </a:p>
          <a:p>
            <a:r>
              <a:rPr lang="en-US" dirty="0">
                <a:solidFill>
                  <a:schemeClr val="bg1"/>
                </a:solidFill>
              </a:rPr>
              <a:t>Work ID</a:t>
            </a:r>
          </a:p>
          <a:p>
            <a:r>
              <a:rPr lang="en-US" b="1" dirty="0">
                <a:solidFill>
                  <a:schemeClr val="bg1"/>
                </a:solidFill>
              </a:rPr>
              <a:t>Total Records Collected</a:t>
            </a:r>
          </a:p>
          <a:p>
            <a:r>
              <a:rPr lang="en-US" dirty="0">
                <a:solidFill>
                  <a:schemeClr val="bg1"/>
                </a:solidFill>
              </a:rPr>
              <a:t>1877 Books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68BBA-51FD-C729-2A9C-9027CB789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850" y="1520390"/>
            <a:ext cx="5043950" cy="2368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96E515-39B3-92DC-EE5E-0A4E4B536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849" y="4023595"/>
            <a:ext cx="5043949" cy="228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7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8028-51D2-C918-0E40-D342D567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Data Cleaning &amp; Feature Engineering: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2885F-B619-5367-01A5-4CCCBA439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solidFill>
                  <a:schemeClr val="bg1"/>
                </a:solidFill>
              </a:rPr>
              <a:t>Data Cleaning</a:t>
            </a:r>
          </a:p>
          <a:p>
            <a:r>
              <a:rPr lang="en-IN" b="1" dirty="0">
                <a:solidFill>
                  <a:schemeClr val="bg1"/>
                </a:solidFill>
              </a:rPr>
              <a:t>Performed:</a:t>
            </a:r>
          </a:p>
          <a:p>
            <a:r>
              <a:rPr lang="en-IN" dirty="0">
                <a:solidFill>
                  <a:schemeClr val="bg1"/>
                </a:solidFill>
              </a:rPr>
              <a:t>Removed missing values</a:t>
            </a:r>
          </a:p>
          <a:p>
            <a:r>
              <a:rPr lang="en-IN" dirty="0">
                <a:solidFill>
                  <a:schemeClr val="bg1"/>
                </a:solidFill>
              </a:rPr>
              <a:t>Removed duplicates</a:t>
            </a:r>
          </a:p>
          <a:p>
            <a:r>
              <a:rPr lang="en-IN" dirty="0">
                <a:solidFill>
                  <a:schemeClr val="bg1"/>
                </a:solidFill>
              </a:rPr>
              <a:t>Converted data types</a:t>
            </a:r>
          </a:p>
          <a:p>
            <a:r>
              <a:rPr lang="en-IN" dirty="0">
                <a:solidFill>
                  <a:schemeClr val="bg1"/>
                </a:solidFill>
              </a:rPr>
              <a:t>Standardized text</a:t>
            </a:r>
          </a:p>
          <a:p>
            <a:r>
              <a:rPr lang="en-IN" dirty="0">
                <a:solidFill>
                  <a:schemeClr val="bg1"/>
                </a:solidFill>
              </a:rPr>
              <a:t>Created new features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New Features Created</a:t>
            </a:r>
          </a:p>
          <a:p>
            <a:r>
              <a:rPr lang="en-IN" dirty="0">
                <a:solidFill>
                  <a:schemeClr val="bg1"/>
                </a:solidFill>
              </a:rPr>
              <a:t>Book Age</a:t>
            </a:r>
          </a:p>
          <a:p>
            <a:r>
              <a:rPr lang="en-IN" dirty="0">
                <a:solidFill>
                  <a:schemeClr val="bg1"/>
                </a:solidFill>
              </a:rPr>
              <a:t>Publication Decade</a:t>
            </a:r>
          </a:p>
          <a:p>
            <a:r>
              <a:rPr lang="en-IN" dirty="0">
                <a:solidFill>
                  <a:schemeClr val="bg1"/>
                </a:solidFill>
              </a:rPr>
              <a:t>Edition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785B3-B9B0-8157-40F0-112196CA2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23" y="2241755"/>
            <a:ext cx="5654777" cy="3935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B75594-4FE1-5306-B24C-27638F6678AE}"/>
              </a:ext>
            </a:extLst>
          </p:cNvPr>
          <p:cNvSpPr txBox="1"/>
          <p:nvPr/>
        </p:nvSpPr>
        <p:spPr>
          <a:xfrm>
            <a:off x="5610533" y="1849024"/>
            <a:ext cx="3326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Data_cleaning.py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87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C5E1-079A-3FD7-9D98-47A252C2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Exploratory Data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C25A6-FC38-A5E6-DD8C-B9B4993FA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EDA</a:t>
            </a:r>
          </a:p>
          <a:p>
            <a:r>
              <a:rPr lang="en-US" dirty="0">
                <a:solidFill>
                  <a:schemeClr val="bg1"/>
                </a:solidFill>
              </a:rPr>
              <a:t>Several visualizations were created to identify trends.</a:t>
            </a:r>
          </a:p>
          <a:p>
            <a:r>
              <a:rPr lang="en-US" b="1" dirty="0">
                <a:solidFill>
                  <a:schemeClr val="bg1"/>
                </a:solidFill>
              </a:rPr>
              <a:t>Visualizations:</a:t>
            </a:r>
          </a:p>
          <a:p>
            <a:r>
              <a:rPr lang="en-US" dirty="0">
                <a:solidFill>
                  <a:schemeClr val="bg1"/>
                </a:solidFill>
              </a:rPr>
              <a:t>Books by Subject</a:t>
            </a:r>
          </a:p>
          <a:p>
            <a:r>
              <a:rPr lang="en-US" dirty="0">
                <a:solidFill>
                  <a:schemeClr val="bg1"/>
                </a:solidFill>
              </a:rPr>
              <a:t>Books by Publication Year</a:t>
            </a:r>
          </a:p>
          <a:p>
            <a:r>
              <a:rPr lang="en-US" dirty="0">
                <a:solidFill>
                  <a:schemeClr val="bg1"/>
                </a:solidFill>
              </a:rPr>
              <a:t>Publication Year Box</a:t>
            </a:r>
          </a:p>
          <a:p>
            <a:r>
              <a:rPr lang="en-US" dirty="0" err="1">
                <a:solidFill>
                  <a:schemeClr val="bg1"/>
                </a:solidFill>
              </a:rPr>
              <a:t>plotTop</a:t>
            </a:r>
            <a:r>
              <a:rPr lang="en-US" dirty="0">
                <a:solidFill>
                  <a:schemeClr val="bg1"/>
                </a:solidFill>
              </a:rPr>
              <a:t> Authors</a:t>
            </a:r>
          </a:p>
          <a:p>
            <a:r>
              <a:rPr lang="en-US" dirty="0">
                <a:solidFill>
                  <a:schemeClr val="bg1"/>
                </a:solidFill>
              </a:rPr>
              <a:t>Edition Count Distribution</a:t>
            </a:r>
          </a:p>
          <a:p>
            <a:r>
              <a:rPr lang="en-US" b="1" dirty="0">
                <a:solidFill>
                  <a:schemeClr val="bg1"/>
                </a:solidFill>
              </a:rPr>
              <a:t>Key Findings</a:t>
            </a:r>
          </a:p>
          <a:p>
            <a:r>
              <a:rPr lang="en-US" dirty="0">
                <a:solidFill>
                  <a:schemeClr val="bg1"/>
                </a:solidFill>
              </a:rPr>
              <a:t>Romance and Fantasy are highly represented.</a:t>
            </a:r>
          </a:p>
          <a:p>
            <a:r>
              <a:rPr lang="en-US" dirty="0">
                <a:solidFill>
                  <a:schemeClr val="bg1"/>
                </a:solidFill>
              </a:rPr>
              <a:t>Most books were published after 1950.</a:t>
            </a:r>
          </a:p>
          <a:p>
            <a:r>
              <a:rPr lang="en-US" dirty="0">
                <a:solidFill>
                  <a:schemeClr val="bg1"/>
                </a:solidFill>
              </a:rPr>
              <a:t>Few authors contribute many books.</a:t>
            </a:r>
          </a:p>
          <a:p>
            <a:r>
              <a:rPr lang="en-US" dirty="0">
                <a:solidFill>
                  <a:schemeClr val="bg1"/>
                </a:solidFill>
              </a:rPr>
              <a:t>Edition Count varies significantly.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97859-2256-4B5F-5741-AF5C02F4C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23" y="1690688"/>
            <a:ext cx="5348748" cy="43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7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1FA3-0E10-E3AA-3B58-CE3D486CA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Machine Learning: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53A4B-B7B9-485C-0C67-285084AE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1829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Model Building</a:t>
            </a:r>
          </a:p>
          <a:p>
            <a:r>
              <a:rPr lang="en-IN" dirty="0">
                <a:solidFill>
                  <a:schemeClr val="bg1"/>
                </a:solidFill>
              </a:rPr>
              <a:t>Problem Type</a:t>
            </a:r>
          </a:p>
          <a:p>
            <a:r>
              <a:rPr lang="en-IN" dirty="0">
                <a:solidFill>
                  <a:schemeClr val="bg1"/>
                </a:solidFill>
              </a:rPr>
              <a:t>Classification</a:t>
            </a:r>
          </a:p>
          <a:p>
            <a:r>
              <a:rPr lang="en-IN" dirty="0">
                <a:solidFill>
                  <a:schemeClr val="bg1"/>
                </a:solidFill>
              </a:rPr>
              <a:t>Target Variable</a:t>
            </a:r>
          </a:p>
          <a:p>
            <a:r>
              <a:rPr lang="en-IN" dirty="0">
                <a:solidFill>
                  <a:schemeClr val="bg1"/>
                </a:solidFill>
              </a:rPr>
              <a:t>Edition Category</a:t>
            </a:r>
          </a:p>
          <a:p>
            <a:r>
              <a:rPr lang="en-IN" dirty="0">
                <a:solidFill>
                  <a:schemeClr val="bg1"/>
                </a:solidFill>
              </a:rPr>
              <a:t>Algorithm Used</a:t>
            </a:r>
          </a:p>
          <a:p>
            <a:r>
              <a:rPr lang="en-IN" dirty="0">
                <a:solidFill>
                  <a:schemeClr val="bg1"/>
                </a:solidFill>
              </a:rPr>
              <a:t>Random Forest Classifier</a:t>
            </a:r>
          </a:p>
          <a:p>
            <a:r>
              <a:rPr lang="en-IN" dirty="0">
                <a:solidFill>
                  <a:schemeClr val="bg1"/>
                </a:solidFill>
              </a:rPr>
              <a:t>Train-Test Split</a:t>
            </a:r>
          </a:p>
          <a:p>
            <a:r>
              <a:rPr lang="en-IN" dirty="0">
                <a:solidFill>
                  <a:schemeClr val="bg1"/>
                </a:solidFill>
              </a:rPr>
              <a:t>80 : 20</a:t>
            </a:r>
          </a:p>
          <a:p>
            <a:r>
              <a:rPr lang="en-IN" dirty="0">
                <a:solidFill>
                  <a:schemeClr val="bg1"/>
                </a:solidFill>
              </a:rPr>
              <a:t>Libraries</a:t>
            </a:r>
          </a:p>
          <a:p>
            <a:r>
              <a:rPr lang="en-IN" dirty="0">
                <a:solidFill>
                  <a:schemeClr val="bg1"/>
                </a:solidFill>
              </a:rPr>
              <a:t>Scikit-Learn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752E3-6F8A-CB0B-A4BC-A497F26BD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280" y="2123769"/>
            <a:ext cx="6463676" cy="3903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8AEF9A-F997-8C43-19C1-FF9B38706239}"/>
              </a:ext>
            </a:extLst>
          </p:cNvPr>
          <p:cNvSpPr txBox="1"/>
          <p:nvPr/>
        </p:nvSpPr>
        <p:spPr>
          <a:xfrm>
            <a:off x="4551430" y="1722562"/>
            <a:ext cx="329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Book_classifier.py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93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3358-23E8-DF83-6E46-39148505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Model Evaluation: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93A5-2DA9-E57C-2BB8-66213B444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Model Performance</a:t>
            </a:r>
          </a:p>
          <a:p>
            <a:r>
              <a:rPr lang="en-IN" dirty="0">
                <a:solidFill>
                  <a:schemeClr val="bg1"/>
                </a:solidFill>
              </a:rPr>
              <a:t>Training Samples:</a:t>
            </a:r>
          </a:p>
          <a:p>
            <a:r>
              <a:rPr lang="en-IN" dirty="0">
                <a:solidFill>
                  <a:schemeClr val="bg1"/>
                </a:solidFill>
              </a:rPr>
              <a:t>1501</a:t>
            </a:r>
          </a:p>
          <a:p>
            <a:r>
              <a:rPr lang="en-IN" dirty="0">
                <a:solidFill>
                  <a:schemeClr val="bg1"/>
                </a:solidFill>
              </a:rPr>
              <a:t>Testing Samples:</a:t>
            </a:r>
          </a:p>
          <a:p>
            <a:r>
              <a:rPr lang="en-IN" dirty="0">
                <a:solidFill>
                  <a:schemeClr val="bg1"/>
                </a:solidFill>
              </a:rPr>
              <a:t>376</a:t>
            </a:r>
          </a:p>
          <a:p>
            <a:r>
              <a:rPr lang="en-IN" dirty="0">
                <a:solidFill>
                  <a:schemeClr val="bg1"/>
                </a:solidFill>
              </a:rPr>
              <a:t>Accuracy:</a:t>
            </a:r>
          </a:p>
          <a:p>
            <a:r>
              <a:rPr lang="en-IN" b="1" dirty="0">
                <a:solidFill>
                  <a:schemeClr val="bg1"/>
                </a:solidFill>
              </a:rPr>
              <a:t>98.94%</a:t>
            </a:r>
          </a:p>
          <a:p>
            <a:r>
              <a:rPr lang="en-IN" b="1" dirty="0">
                <a:solidFill>
                  <a:schemeClr val="bg1"/>
                </a:solidFill>
              </a:rPr>
              <a:t>Classification Metrics</a:t>
            </a:r>
          </a:p>
          <a:p>
            <a:r>
              <a:rPr lang="en-IN" dirty="0">
                <a:solidFill>
                  <a:schemeClr val="bg1"/>
                </a:solidFill>
              </a:rPr>
              <a:t>Precision</a:t>
            </a:r>
          </a:p>
          <a:p>
            <a:r>
              <a:rPr lang="en-IN" dirty="0">
                <a:solidFill>
                  <a:schemeClr val="bg1"/>
                </a:solidFill>
              </a:rPr>
              <a:t>Recall</a:t>
            </a:r>
          </a:p>
          <a:p>
            <a:r>
              <a:rPr lang="en-IN" dirty="0">
                <a:solidFill>
                  <a:schemeClr val="bg1"/>
                </a:solidFill>
              </a:rPr>
              <a:t>F1 Score</a:t>
            </a:r>
          </a:p>
          <a:p>
            <a:r>
              <a:rPr lang="en-IN" dirty="0">
                <a:solidFill>
                  <a:schemeClr val="bg1"/>
                </a:solidFill>
              </a:rPr>
              <a:t>Confusion Matrix Generated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7F0452-5A46-D31D-76E0-A8FDEAA24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755" y="2060020"/>
            <a:ext cx="5762441" cy="4111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6D0A5-EFF6-F335-5F70-4C9E81F395C8}"/>
              </a:ext>
            </a:extLst>
          </p:cNvPr>
          <p:cNvSpPr txBox="1"/>
          <p:nvPr/>
        </p:nvSpPr>
        <p:spPr>
          <a:xfrm>
            <a:off x="5201264" y="1690688"/>
            <a:ext cx="329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Terminal_output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16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3C31-2BB2-F385-8E27-2B100E78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Feature Importance: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C140-9752-4F75-02A6-A71E1751E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Feature Importance</a:t>
            </a:r>
          </a:p>
          <a:p>
            <a:r>
              <a:rPr lang="en-US" dirty="0">
                <a:solidFill>
                  <a:schemeClr val="bg1"/>
                </a:solidFill>
              </a:rPr>
              <a:t>Random Forest identified the most important features.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Ranking</a:t>
            </a:r>
          </a:p>
          <a:p>
            <a:r>
              <a:rPr lang="en-US" dirty="0">
                <a:solidFill>
                  <a:schemeClr val="bg1"/>
                </a:solidFill>
              </a:rPr>
              <a:t>1 Edition Count</a:t>
            </a:r>
          </a:p>
          <a:p>
            <a:r>
              <a:rPr lang="en-US" dirty="0">
                <a:solidFill>
                  <a:schemeClr val="bg1"/>
                </a:solidFill>
              </a:rPr>
              <a:t>2 Book Age</a:t>
            </a:r>
          </a:p>
          <a:p>
            <a:r>
              <a:rPr lang="en-US" dirty="0">
                <a:solidFill>
                  <a:schemeClr val="bg1"/>
                </a:solidFill>
              </a:rPr>
              <a:t>3 Publish Year</a:t>
            </a:r>
          </a:p>
          <a:p>
            <a:r>
              <a:rPr lang="en-US" dirty="0">
                <a:solidFill>
                  <a:schemeClr val="bg1"/>
                </a:solidFill>
              </a:rPr>
              <a:t>4 Subject</a:t>
            </a:r>
          </a:p>
          <a:p>
            <a:r>
              <a:rPr lang="en-US" dirty="0">
                <a:solidFill>
                  <a:schemeClr val="bg1"/>
                </a:solidFill>
              </a:rPr>
              <a:t>5 Publication Decade</a:t>
            </a:r>
          </a:p>
          <a:p>
            <a:r>
              <a:rPr lang="en-US" dirty="0">
                <a:solidFill>
                  <a:schemeClr val="bg1"/>
                </a:solidFill>
              </a:rPr>
              <a:t>6 Author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Observation</a:t>
            </a:r>
          </a:p>
          <a:p>
            <a:r>
              <a:rPr lang="en-US" dirty="0">
                <a:solidFill>
                  <a:schemeClr val="bg1"/>
                </a:solidFill>
              </a:rPr>
              <a:t>Edition Count contributes nearly 78% towards prediction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EC0406-A60D-56EA-8B5E-B5DC68AD3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10" y="1825625"/>
            <a:ext cx="5151597" cy="380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1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FFC0-7327-A28C-CAD0-2D1F68B3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Power BI Dashboard: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AA79-4085-6F49-DE6C-6A993BA4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Interactive Dashboard</a:t>
            </a:r>
          </a:p>
          <a:p>
            <a:r>
              <a:rPr lang="en-IN" dirty="0">
                <a:solidFill>
                  <a:schemeClr val="bg1"/>
                </a:solidFill>
              </a:rPr>
              <a:t>Dashboard contains</a:t>
            </a:r>
          </a:p>
          <a:p>
            <a:r>
              <a:rPr lang="en-IN" b="1" dirty="0">
                <a:solidFill>
                  <a:schemeClr val="bg1"/>
                </a:solidFill>
              </a:rPr>
              <a:t>KPIs</a:t>
            </a:r>
          </a:p>
          <a:p>
            <a:r>
              <a:rPr lang="en-IN" dirty="0">
                <a:solidFill>
                  <a:schemeClr val="bg1"/>
                </a:solidFill>
              </a:rPr>
              <a:t>Total Books</a:t>
            </a:r>
          </a:p>
          <a:p>
            <a:r>
              <a:rPr lang="en-IN" dirty="0">
                <a:solidFill>
                  <a:schemeClr val="bg1"/>
                </a:solidFill>
              </a:rPr>
              <a:t>Total Authors</a:t>
            </a:r>
          </a:p>
          <a:p>
            <a:r>
              <a:rPr lang="en-IN" dirty="0">
                <a:solidFill>
                  <a:schemeClr val="bg1"/>
                </a:solidFill>
              </a:rPr>
              <a:t>Total Subjects</a:t>
            </a:r>
          </a:p>
          <a:p>
            <a:r>
              <a:rPr lang="en-IN" dirty="0">
                <a:solidFill>
                  <a:schemeClr val="bg1"/>
                </a:solidFill>
              </a:rPr>
              <a:t>Average Editions</a:t>
            </a:r>
          </a:p>
          <a:p>
            <a:r>
              <a:rPr lang="en-IN" b="1" dirty="0">
                <a:solidFill>
                  <a:schemeClr val="bg1"/>
                </a:solidFill>
              </a:rPr>
              <a:t>Charts</a:t>
            </a:r>
          </a:p>
          <a:p>
            <a:r>
              <a:rPr lang="en-IN" dirty="0">
                <a:solidFill>
                  <a:schemeClr val="bg1"/>
                </a:solidFill>
              </a:rPr>
              <a:t>Books by Subject</a:t>
            </a:r>
          </a:p>
          <a:p>
            <a:r>
              <a:rPr lang="en-IN" dirty="0">
                <a:solidFill>
                  <a:schemeClr val="bg1"/>
                </a:solidFill>
              </a:rPr>
              <a:t>Books Published Over Decades</a:t>
            </a:r>
          </a:p>
          <a:p>
            <a:r>
              <a:rPr lang="en-IN" dirty="0">
                <a:solidFill>
                  <a:schemeClr val="bg1"/>
                </a:solidFill>
              </a:rPr>
              <a:t>Top 10 Authors</a:t>
            </a:r>
          </a:p>
          <a:p>
            <a:r>
              <a:rPr lang="en-IN" b="1" dirty="0">
                <a:solidFill>
                  <a:schemeClr val="bg1"/>
                </a:solidFill>
              </a:rPr>
              <a:t>Interactive Filters</a:t>
            </a:r>
          </a:p>
          <a:p>
            <a:r>
              <a:rPr lang="en-IN" dirty="0">
                <a:solidFill>
                  <a:schemeClr val="bg1"/>
                </a:solidFill>
              </a:rPr>
              <a:t>Subject</a:t>
            </a:r>
          </a:p>
          <a:p>
            <a:r>
              <a:rPr lang="en-IN" dirty="0">
                <a:solidFill>
                  <a:schemeClr val="bg1"/>
                </a:solidFill>
              </a:rPr>
              <a:t>Author</a:t>
            </a:r>
          </a:p>
          <a:p>
            <a:r>
              <a:rPr lang="en-IN" dirty="0">
                <a:solidFill>
                  <a:schemeClr val="bg1"/>
                </a:solidFill>
              </a:rPr>
              <a:t>Edition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1EAB4-72CB-FF74-6947-1E9CB56F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010" y="1690688"/>
            <a:ext cx="77277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91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FDBA-E91B-C492-CDC5-F786B185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Business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D01D8-1203-29BC-0182-54A5C2BAE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Key Insights</a:t>
            </a:r>
          </a:p>
          <a:p>
            <a:r>
              <a:rPr lang="en-US" b="1" dirty="0">
                <a:solidFill>
                  <a:schemeClr val="bg1"/>
                </a:solidFill>
              </a:rPr>
              <a:t>1877</a:t>
            </a:r>
            <a:r>
              <a:rPr lang="en-US" dirty="0">
                <a:solidFill>
                  <a:schemeClr val="bg1"/>
                </a:solidFill>
              </a:rPr>
              <a:t> books were analyzed.</a:t>
            </a:r>
          </a:p>
          <a:p>
            <a:r>
              <a:rPr lang="en-US" dirty="0">
                <a:solidFill>
                  <a:schemeClr val="bg1"/>
                </a:solidFill>
              </a:rPr>
              <a:t>More than 1000 unique authors exist.</a:t>
            </a:r>
          </a:p>
          <a:p>
            <a:r>
              <a:rPr lang="en-US" dirty="0">
                <a:solidFill>
                  <a:schemeClr val="bg1"/>
                </a:solidFill>
              </a:rPr>
              <a:t>Romance and Fantasy contain the highest number of books.</a:t>
            </a:r>
          </a:p>
          <a:p>
            <a:r>
              <a:rPr lang="en-US" dirty="0">
                <a:solidFill>
                  <a:schemeClr val="bg1"/>
                </a:solidFill>
              </a:rPr>
              <a:t>Book publication increased significantly after the 1950s.</a:t>
            </a:r>
          </a:p>
          <a:p>
            <a:r>
              <a:rPr lang="en-US" dirty="0">
                <a:solidFill>
                  <a:schemeClr val="bg1"/>
                </a:solidFill>
              </a:rPr>
              <a:t>Edition Count is the strongest predictor of Edition Category.</a:t>
            </a:r>
          </a:p>
          <a:p>
            <a:r>
              <a:rPr lang="en-US" dirty="0">
                <a:solidFill>
                  <a:schemeClr val="bg1"/>
                </a:solidFill>
              </a:rPr>
              <a:t>The Random Forest model achieved 98.94% accuracy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222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B2545-AAFC-969B-AFA4-26FB42C9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7C33A-EA36-CCE2-2B41-B60201B08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  <a:p>
            <a:r>
              <a:rPr lang="en-US" dirty="0">
                <a:solidFill>
                  <a:schemeClr val="bg1"/>
                </a:solidFill>
              </a:rPr>
              <a:t>The project successfully demonstrates an end-to-end Data Science workflow.</a:t>
            </a:r>
          </a:p>
          <a:p>
            <a:r>
              <a:rPr lang="en-US" dirty="0">
                <a:solidFill>
                  <a:schemeClr val="bg1"/>
                </a:solidFill>
              </a:rPr>
              <a:t>Achievements</a:t>
            </a:r>
          </a:p>
          <a:p>
            <a:r>
              <a:rPr lang="en-US" dirty="0">
                <a:solidFill>
                  <a:schemeClr val="bg1"/>
                </a:solidFill>
              </a:rPr>
              <a:t>✔️ </a:t>
            </a:r>
            <a:r>
              <a:rPr lang="en-US" b="1" dirty="0">
                <a:solidFill>
                  <a:schemeClr val="bg1"/>
                </a:solidFill>
              </a:rPr>
              <a:t>Web Scraping</a:t>
            </a:r>
          </a:p>
          <a:p>
            <a:r>
              <a:rPr lang="en-US" b="1" dirty="0">
                <a:solidFill>
                  <a:schemeClr val="bg1"/>
                </a:solidFill>
              </a:rPr>
              <a:t>✔️ Data Cleaning</a:t>
            </a:r>
          </a:p>
          <a:p>
            <a:r>
              <a:rPr lang="en-US" b="1" dirty="0">
                <a:solidFill>
                  <a:schemeClr val="bg1"/>
                </a:solidFill>
              </a:rPr>
              <a:t>✔️ Feature Engineering</a:t>
            </a:r>
          </a:p>
          <a:p>
            <a:r>
              <a:rPr lang="en-US" b="1" dirty="0">
                <a:solidFill>
                  <a:schemeClr val="bg1"/>
                </a:solidFill>
              </a:rPr>
              <a:t>✔️ Exploratory Data Analysis</a:t>
            </a:r>
          </a:p>
          <a:p>
            <a:r>
              <a:rPr lang="en-US" b="1" dirty="0">
                <a:solidFill>
                  <a:schemeClr val="bg1"/>
                </a:solidFill>
              </a:rPr>
              <a:t>✔️ Machine Learning</a:t>
            </a:r>
          </a:p>
          <a:p>
            <a:r>
              <a:rPr lang="en-US" b="1" dirty="0">
                <a:solidFill>
                  <a:schemeClr val="bg1"/>
                </a:solidFill>
              </a:rPr>
              <a:t>✔️ Interactive Dashboard</a:t>
            </a:r>
          </a:p>
          <a:p>
            <a:r>
              <a:rPr lang="en-US" dirty="0">
                <a:solidFill>
                  <a:schemeClr val="bg1"/>
                </a:solidFill>
              </a:rPr>
              <a:t>The generated insights can help publishers and libraries understand publishing trends and book popularity.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90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94A7-7E17-7F12-2B66-5AF9F95E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Thank You &amp; Video Submission: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C17EF-4C19-A21A-C88F-EC66A6C3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THANK YOU</a:t>
            </a:r>
          </a:p>
          <a:p>
            <a:r>
              <a:rPr lang="en-US" b="1" dirty="0">
                <a:solidFill>
                  <a:schemeClr val="bg1"/>
                </a:solidFill>
              </a:rPr>
              <a:t>Prepared </a:t>
            </a:r>
            <a:r>
              <a:rPr lang="en-US" b="1" dirty="0" err="1">
                <a:solidFill>
                  <a:schemeClr val="bg1"/>
                </a:solidFill>
              </a:rPr>
              <a:t>By:Ritesh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Redekar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Project Demonstration Video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Video url: </a:t>
            </a:r>
            <a:r>
              <a:rPr lang="en-US">
                <a:solidFill>
                  <a:schemeClr val="bg1"/>
                </a:solidFill>
                <a:hlinkClick r:id="rId2"/>
              </a:rPr>
              <a:t>https://drive.google.com/file/d/1tec7h-P2rY07690xwnBXSNKjbrRtB5u1/view?usp=sharing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56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532</Words>
  <Application>Microsoft Office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BOOK ANALYTICS USING DATA SCIENCE End-to-End Data Science Capstone Project</vt:lpstr>
      <vt:lpstr>Project Objective:</vt:lpstr>
      <vt:lpstr>Workflow:</vt:lpstr>
      <vt:lpstr>Web Scraping:</vt:lpstr>
      <vt:lpstr>Data Cleaning &amp; Feature Engineering:</vt:lpstr>
      <vt:lpstr>Exploratory Data Analysis:</vt:lpstr>
      <vt:lpstr>Machine Learning:</vt:lpstr>
      <vt:lpstr>Model Evaluation:</vt:lpstr>
      <vt:lpstr>Feature Importance:</vt:lpstr>
      <vt:lpstr>Power BI Dashboard:</vt:lpstr>
      <vt:lpstr>Business Insights:</vt:lpstr>
      <vt:lpstr>Conclusion:</vt:lpstr>
      <vt:lpstr>Thank You &amp; Video Submission: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Lad</dc:creator>
  <cp:lastModifiedBy>Pratik Lad</cp:lastModifiedBy>
  <cp:revision>1</cp:revision>
  <dcterms:created xsi:type="dcterms:W3CDTF">2026-07-26T06:19:46Z</dcterms:created>
  <dcterms:modified xsi:type="dcterms:W3CDTF">2026-07-26T11:30:33Z</dcterms:modified>
</cp:coreProperties>
</file>